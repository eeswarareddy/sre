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914400"/>
            <a:ext cx="731520" cy="731520"/>
          </a:xfrm>
          <a:prstGeom prst="ellipse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914400"/>
            <a:ext cx="731520" cy="731520"/>
          </a:xfrm>
          <a:prstGeom prst="ellipse">
            <a:avLst/>
          </a:prstGeom>
          <a:solidFill>
            <a:srgbClr val="FF5722"/>
          </a:solidFill>
          <a:ln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5486400"/>
            <a:ext cx="731520" cy="731520"/>
          </a:xfrm>
          <a:prstGeom prst="ellipse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486400"/>
            <a:ext cx="731520" cy="731520"/>
          </a:xfrm>
          <a:prstGeom prst="ellipse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A237E"/>
                </a:solidFill>
              </a:defRPr>
            </a:pPr>
            <a:r>
              <a:t>AI, Generative AI &amp; Agentic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5722"/>
                </a:solidFill>
              </a:defRPr>
            </a:pPr>
            <a:r>
              <a:t>Framework Comparison &amp; Evaluation Strategies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12121"/>
                </a:solidFill>
              </a:defRPr>
            </a:pPr>
            <a:r>
              <a:t>A Comprehensive Technical Overview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What is AI and Generative AI?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828800" cy="73152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Traditional 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1737360"/>
            <a:ext cx="9144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1371600"/>
            <a:ext cx="1828800" cy="731520"/>
          </a:xfrm>
          <a:prstGeom prst="roundRect">
            <a:avLst/>
          </a:prstGeom>
          <a:solidFill>
            <a:srgbClr val="03A9F4"/>
          </a:solidFill>
          <a:ln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Machine</a:t>
            </a:r>
          </a:p>
          <a:p>
            <a:r>
              <a:t>Learning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1737360"/>
            <a:ext cx="914400" cy="0"/>
          </a:xfrm>
          <a:prstGeom prst="line">
            <a:avLst/>
          </a:prstGeom>
          <a:ln w="2540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0" y="1371600"/>
            <a:ext cx="1828800" cy="73152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Generative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196F3"/>
                </a:solidFill>
              </a:defRPr>
            </a:pPr>
            <a:r>
              <a:t>Traditional AI</a:t>
            </a:r>
          </a:p>
          <a:p>
            <a:pPr>
              <a:spcAft>
                <a:spcPts val="600"/>
              </a:spcAft>
              <a:defRPr sz="1400"/>
            </a:pPr>
            <a:r>
              <a:t>• Rule-based systems</a:t>
            </a:r>
          </a:p>
          <a:p>
            <a:pPr>
              <a:spcAft>
                <a:spcPts val="600"/>
              </a:spcAft>
              <a:defRPr sz="1400"/>
            </a:pPr>
            <a:r>
              <a:t>• Classification &amp; prediction</a:t>
            </a:r>
          </a:p>
          <a:p>
            <a:pPr>
              <a:spcAft>
                <a:spcPts val="600"/>
              </a:spcAft>
              <a:defRPr sz="1400"/>
            </a:pPr>
            <a:r>
              <a:t>• Pattern recognition</a:t>
            </a:r>
          </a:p>
          <a:p>
            <a:pPr>
              <a:spcAft>
                <a:spcPts val="600"/>
              </a:spcAft>
              <a:defRPr sz="1400"/>
            </a:pPr>
            <a:r>
              <a:t>• Spam filters, fraud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603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Generative AI</a:t>
            </a:r>
          </a:p>
          <a:p>
            <a:pPr>
              <a:spcAft>
                <a:spcPts val="600"/>
              </a:spcAft>
              <a:defRPr sz="1400"/>
            </a:pPr>
            <a:r>
              <a:t>• Creates new content</a:t>
            </a:r>
          </a:p>
          <a:p>
            <a:pPr>
              <a:spcAft>
                <a:spcPts val="600"/>
              </a:spcAft>
              <a:defRPr sz="1400"/>
            </a:pPr>
            <a:r>
              <a:t>• Multimodal (text, image, video)</a:t>
            </a:r>
          </a:p>
          <a:p>
            <a:pPr>
              <a:spcAft>
                <a:spcPts val="600"/>
              </a:spcAft>
              <a:defRPr sz="1400"/>
            </a:pPr>
            <a:r>
              <a:t>• Foundation models</a:t>
            </a:r>
          </a:p>
          <a:p>
            <a:pPr>
              <a:spcAft>
                <a:spcPts val="600"/>
              </a:spcAft>
              <a:defRPr sz="1400"/>
            </a:pPr>
            <a:r>
              <a:t>• GPT-4, Claude, Gemini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6032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5722"/>
                </a:solidFill>
              </a:defRPr>
            </a:pPr>
            <a:r>
              <a:t>2026 Trends</a:t>
            </a:r>
          </a:p>
          <a:p>
            <a:pPr>
              <a:spcAft>
                <a:spcPts val="400"/>
              </a:spcAft>
              <a:defRPr sz="1300"/>
            </a:pPr>
            <a:r>
              <a:t>✨ Multimodal</a:t>
            </a:r>
          </a:p>
          <a:p>
            <a:pPr>
              <a:spcAft>
                <a:spcPts val="400"/>
              </a:spcAft>
              <a:defRPr sz="1300"/>
            </a:pPr>
            <a:r>
              <a:t>🤖 Agentic AI</a:t>
            </a:r>
          </a:p>
          <a:p>
            <a:pPr>
              <a:spcAft>
                <a:spcPts val="400"/>
              </a:spcAft>
              <a:defRPr sz="1300"/>
            </a:pPr>
            <a:r>
              <a:t>🎯 Specialized</a:t>
            </a:r>
          </a:p>
          <a:p>
            <a:pPr>
              <a:spcAft>
                <a:spcPts val="400"/>
              </a:spcAft>
              <a:defRPr sz="1300"/>
            </a:pPr>
            <a:r>
              <a:t>⚡ Edge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2026 Key Trends in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164592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Multimodal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Text, image, audio, video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743200" cy="164592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5544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Agentic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Autonomous task completion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371600"/>
            <a:ext cx="2743200" cy="1645920"/>
          </a:xfrm>
          <a:prstGeom prst="roundRect">
            <a:avLst/>
          </a:prstGeom>
          <a:solidFill>
            <a:srgbClr val="9C27B0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C27B0"/>
                </a:solidFill>
              </a:defRPr>
            </a:pPr>
            <a:r>
              <a:t>Domain Specialization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Industry-specific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2743200" cy="164592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800"/>
                </a:solidFill>
              </a:defRPr>
            </a:pPr>
            <a:r>
              <a:t>Edge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On-device inference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291840"/>
            <a:ext cx="2743200" cy="1645920"/>
          </a:xfrm>
          <a:prstGeom prst="roundRect">
            <a:avLst/>
          </a:prstGeom>
          <a:solidFill>
            <a:srgbClr val="03A9F4"/>
          </a:solidFill>
          <a:ln w="254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474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9319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3A9F4"/>
                </a:solidFill>
              </a:defRPr>
            </a:pPr>
            <a:r>
              <a:t>Hyper-personalization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297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Real-time adaptation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291840"/>
            <a:ext cx="2743200" cy="1645920"/>
          </a:xfrm>
          <a:prstGeom prst="roundRect">
            <a:avLst/>
          </a:prstGeom>
          <a:solidFill>
            <a:srgbClr val="E91E63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474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39319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1E63"/>
                </a:solidFill>
              </a:defRPr>
            </a:pPr>
            <a:r>
              <a:t>Full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4297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End-to-end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Understanding Agentic AI Systems</a:t>
            </a:r>
          </a:p>
        </p:txBody>
      </p:sp>
      <p:sp>
        <p:nvSpPr>
          <p:cNvPr id="3" name="Hexagon 2"/>
          <p:cNvSpPr/>
          <p:nvPr/>
        </p:nvSpPr>
        <p:spPr>
          <a:xfrm>
            <a:off x="3886200" y="3200400"/>
            <a:ext cx="1371600" cy="1097280"/>
          </a:xfrm>
          <a:prstGeom prst="hexagon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</a:t>
            </a:r>
          </a:p>
          <a:p>
            <a:r>
              <a:t>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1371600" cy="73152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Foundation</a:t>
            </a:r>
          </a:p>
          <a:p>
            <a:r>
              <a:t>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0" y="1737360"/>
            <a:ext cx="685800" cy="2011679"/>
          </a:xfrm>
          <a:prstGeom prst="line">
            <a:avLst/>
          </a:prstGeom>
          <a:ln w="2540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0" y="1371600"/>
            <a:ext cx="1371600" cy="73152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Tools &amp;</a:t>
            </a:r>
          </a:p>
          <a:p>
            <a:r>
              <a:t>APIs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5257800" y="1737360"/>
            <a:ext cx="685800" cy="2011679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28800" y="4572000"/>
            <a:ext cx="1371600" cy="731520"/>
          </a:xfrm>
          <a:prstGeom prst="round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Memory</a:t>
            </a:r>
          </a:p>
          <a:p>
            <a:r>
              <a:t>System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200400" y="3749039"/>
            <a:ext cx="685800" cy="1188721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43600" y="4572000"/>
            <a:ext cx="1371600" cy="73152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Environment</a:t>
            </a:r>
          </a:p>
          <a:p>
            <a:r>
              <a:t>&amp; Tasks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800" y="3749039"/>
            <a:ext cx="685800" cy="1188721"/>
          </a:xfrm>
          <a:prstGeom prst="line">
            <a:avLst/>
          </a:prstGeom>
          <a:ln w="254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4320" y="1097280"/>
            <a:ext cx="1371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722"/>
                </a:solidFill>
              </a:defRPr>
            </a:pPr>
            <a:r>
              <a:t>Capabilities:</a:t>
            </a:r>
          </a:p>
          <a:p>
            <a:pPr>
              <a:spcAft>
                <a:spcPts val="400"/>
              </a:spcAft>
              <a:defRPr sz="1200"/>
            </a:pPr>
            <a:r>
              <a:t>🎯 Reason</a:t>
            </a:r>
          </a:p>
          <a:p>
            <a:pPr>
              <a:spcAft>
                <a:spcPts val="400"/>
              </a:spcAft>
              <a:defRPr sz="1200"/>
            </a:pPr>
            <a:r>
              <a:t>📋 Plan</a:t>
            </a:r>
          </a:p>
          <a:p>
            <a:pPr>
              <a:spcAft>
                <a:spcPts val="400"/>
              </a:spcAft>
              <a:defRPr sz="1200"/>
            </a:pPr>
            <a:r>
              <a:t>🔧 Act</a:t>
            </a:r>
          </a:p>
          <a:p>
            <a:pPr>
              <a:spcAft>
                <a:spcPts val="400"/>
              </a:spcAft>
              <a:defRPr sz="1200"/>
            </a:pPr>
            <a:r>
              <a:t>🔄 Learn</a:t>
            </a:r>
          </a:p>
          <a:p>
            <a:pPr>
              <a:spcAft>
                <a:spcPts val="400"/>
              </a:spcAft>
              <a:defRPr sz="1200"/>
            </a:pPr>
            <a:r>
              <a:t>🤝 Collaborate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Multi-Agent Systems &amp; Orchestration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9000" y="1097280"/>
            <a:ext cx="2286000" cy="64008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Agent Orchestrator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371600" cy="73152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Research</a:t>
            </a:r>
          </a:p>
          <a:p>
            <a:r>
              <a:t>Agent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600200" y="1737360"/>
            <a:ext cx="2971800" cy="548640"/>
          </a:xfrm>
          <a:prstGeom prst="line">
            <a:avLst/>
          </a:prstGeom>
          <a:ln w="2540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2286000"/>
            <a:ext cx="1371600" cy="73152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Code</a:t>
            </a:r>
          </a:p>
          <a:p>
            <a:r>
              <a:t>Agent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429000" y="1737360"/>
            <a:ext cx="1143000" cy="548640"/>
          </a:xfrm>
          <a:prstGeom prst="line">
            <a:avLst/>
          </a:prstGeom>
          <a:ln w="254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2286000"/>
            <a:ext cx="1371600" cy="731520"/>
          </a:xfrm>
          <a:prstGeom prst="round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Analysis</a:t>
            </a:r>
          </a:p>
          <a:p>
            <a:r>
              <a:t>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1737360"/>
            <a:ext cx="685800" cy="548640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2286000"/>
            <a:ext cx="1371600" cy="73152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QA</a:t>
            </a:r>
          </a:p>
          <a:p>
            <a:r>
              <a:t>Agent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1737360"/>
            <a:ext cx="2514600" cy="54864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474720"/>
            <a:ext cx="8229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722"/>
                </a:solidFill>
              </a:defRPr>
            </a:pPr>
            <a:r>
              <a:rPr b="0"/>
              <a:t>• Orchestration: Coordinating specialized agents for complex workflows</a:t>
            </a:r>
          </a:p>
          <a:p>
            <a:pPr>
              <a:spcAft>
                <a:spcPts val="800"/>
              </a:spcAft>
              <a:defRPr sz="1400" b="1">
                <a:solidFill>
                  <a:srgbClr val="FF5722"/>
                </a:solidFill>
              </a:defRPr>
            </a:pPr>
            <a:r>
              <a:rPr b="0"/>
              <a:t>• Collaboration: Swarm, hierarchical, and workflow-based patterns</a:t>
            </a:r>
          </a:p>
          <a:p>
            <a:pPr>
              <a:spcAft>
                <a:spcPts val="800"/>
              </a:spcAft>
              <a:defRPr sz="1400" b="1">
                <a:solidFill>
                  <a:srgbClr val="FF5722"/>
                </a:solidFill>
              </a:defRPr>
            </a:pPr>
            <a:r>
              <a:rPr b="0"/>
              <a:t>• Specialization: 70% of MAS will have narrow, focused roles by 2027</a:t>
            </a:r>
          </a:p>
          <a:p>
            <a:pPr>
              <a:spcAft>
                <a:spcPts val="800"/>
              </a:spcAft>
              <a:defRPr sz="1400" b="1">
                <a:solidFill>
                  <a:srgbClr val="FF5722"/>
                </a:solidFill>
              </a:defRPr>
            </a:pPr>
            <a:r>
              <a:rPr b="0"/>
              <a:t>• Governance: Permission boundaries and audit logs</a:t>
            </a:r>
          </a:p>
          <a:p>
            <a:pPr>
              <a:spcAft>
                <a:spcPts val="800"/>
              </a:spcAft>
              <a:defRPr sz="1400" b="1">
                <a:solidFill>
                  <a:srgbClr val="FF5722"/>
                </a:solidFill>
              </a:defRPr>
            </a:pPr>
            <a:r>
              <a:rPr b="0"/>
              <a:t>• Human-in-Loop: Approval checkpoints for critical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AI Evaluation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FF5722"/>
                </a:solidFill>
              </a:defRPr>
            </a:pPr>
            <a:r>
              <a:t>2026 Shift: From 'Can AI do this?' to 'How well, at what cost, and for whom?'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828800" cy="731520"/>
          </a:xfrm>
          <a:prstGeom prst="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Performance</a:t>
            </a:r>
          </a:p>
          <a:p>
            <a:r>
              <a:t>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2926080"/>
            <a:ext cx="1463040" cy="457200"/>
          </a:xfrm>
          <a:prstGeom prst="round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Accuracy/F1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3566160"/>
            <a:ext cx="1463040" cy="457200"/>
          </a:xfrm>
          <a:prstGeom prst="round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BLEU/ROUGE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4206240"/>
            <a:ext cx="1463040" cy="457200"/>
          </a:xfrm>
          <a:prstGeom prst="round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Relevance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1828800"/>
            <a:ext cx="1828800" cy="7315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Safety &amp;</a:t>
            </a:r>
          </a:p>
          <a:p>
            <a:r>
              <a:t>Ethics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2926080"/>
            <a:ext cx="1463040" cy="45720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Bias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3566160"/>
            <a:ext cx="1463040" cy="45720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Toxicity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4206240"/>
            <a:ext cx="1463040" cy="45720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Fairness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1828800" cy="731520"/>
          </a:xfrm>
          <a:prstGeom prst="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Production</a:t>
            </a:r>
          </a:p>
          <a:p>
            <a:r>
              <a:t>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926080"/>
            <a:ext cx="1463040" cy="45720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Hallucination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566160"/>
            <a:ext cx="1463040" cy="45720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Latency/Cost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206240"/>
            <a:ext cx="1463040" cy="45720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029200"/>
            <a:ext cx="7315200" cy="54864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Continuous Monitoring &amp; Traceability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Leading Evaluation Platforms (2026)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2743200"/>
              </a:tblGrid>
              <a:tr h="62865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DeepEval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Developer-focused, RAG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Development &amp; Testing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Galileo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Hallucination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Production GenAI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Arize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ML observability, drift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Enterprise Monitoring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Patronus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Rubric-based 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Structured Evaluation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MLflow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Experiment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Custom Workflows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RAG-specific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RAG Systems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Braintrust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Dev workflow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End-to-End Platform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Strands SDK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Open-source, code-first Python framework by AWS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828800" cy="64008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Your Application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1965960"/>
            <a:ext cx="7315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xagon 5"/>
          <p:cNvSpPr/>
          <p:nvPr/>
        </p:nvSpPr>
        <p:spPr>
          <a:xfrm>
            <a:off x="3474720" y="1645920"/>
            <a:ext cx="2194560" cy="914400"/>
          </a:xfrm>
          <a:prstGeom prst="hexagon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Strands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926080"/>
            <a:ext cx="1371600" cy="548640"/>
          </a:xfrm>
          <a:prstGeom prst="roundRect">
            <a:avLst/>
          </a:prstGeom>
          <a:solidFill>
            <a:srgbClr val="146EB4"/>
          </a:solidFill>
          <a:ln>
            <a:solidFill>
              <a:srgbClr val="14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Agent Loop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057400" y="2560320"/>
            <a:ext cx="2514600" cy="3657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00400" y="2926080"/>
            <a:ext cx="1371600" cy="548640"/>
          </a:xfrm>
          <a:prstGeom prst="roundRect">
            <a:avLst/>
          </a:prstGeom>
          <a:solidFill>
            <a:srgbClr val="232F3E"/>
          </a:solidFill>
          <a:ln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Tool Registry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886200" y="2560320"/>
            <a:ext cx="685800" cy="3657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0" y="2926080"/>
            <a:ext cx="1371600" cy="548640"/>
          </a:xfrm>
          <a:prstGeom prst="roundRect">
            <a:avLst/>
          </a:prstGeom>
          <a:solidFill>
            <a:srgbClr val="EC7211"/>
          </a:solidFill>
          <a:ln>
            <a:solidFill>
              <a:srgbClr val="EC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Memory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2560320"/>
            <a:ext cx="1143000" cy="3657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3931920"/>
            <a:ext cx="1280160" cy="5486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AWS</a:t>
            </a:r>
          </a:p>
          <a:p>
            <a:r>
              <a:t>Bedrock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554480" y="3474720"/>
            <a:ext cx="50292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60320" y="3931920"/>
            <a:ext cx="1280160" cy="548640"/>
          </a:xfrm>
          <a:prstGeom prst="roundRect">
            <a:avLst/>
          </a:prstGeom>
          <a:solidFill>
            <a:srgbClr val="10A37F"/>
          </a:solidFill>
          <a:ln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OpenAI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57400" y="3474720"/>
            <a:ext cx="114300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06240" y="3931920"/>
            <a:ext cx="1280160" cy="548640"/>
          </a:xfrm>
          <a:prstGeom prst="round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Anthropic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57400" y="3474720"/>
            <a:ext cx="278892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0" y="137160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5722"/>
                </a:solidFill>
              </a:defRPr>
            </a:pPr>
            <a:r>
              <a:t>Key Features</a:t>
            </a:r>
          </a:p>
          <a:p>
            <a:pPr>
              <a:spcAft>
                <a:spcPts val="600"/>
              </a:spcAft>
              <a:defRPr sz="1200"/>
            </a:pPr>
            <a:r>
              <a:t>🎯 Simplicity</a:t>
            </a:r>
          </a:p>
          <a:p>
            <a:pPr>
              <a:spcAft>
                <a:spcPts val="600"/>
              </a:spcAft>
              <a:defRPr sz="1200"/>
            </a:pPr>
            <a:r>
              <a:t>🔄 Model Agnostic</a:t>
            </a:r>
          </a:p>
          <a:p>
            <a:pPr>
              <a:spcAft>
                <a:spcPts val="600"/>
              </a:spcAft>
              <a:defRPr sz="1200"/>
            </a:pPr>
            <a:r>
              <a:t>🏗️ Production-Ready</a:t>
            </a:r>
          </a:p>
          <a:p>
            <a:pPr>
              <a:spcAft>
                <a:spcPts val="600"/>
              </a:spcAft>
              <a:defRPr sz="1200"/>
            </a:pPr>
            <a:r>
              <a:t>🤖 Multi-Agent</a:t>
            </a:r>
          </a:p>
          <a:p>
            <a:pPr>
              <a:spcAft>
                <a:spcPts val="600"/>
              </a:spcAft>
              <a:defRPr sz="1200"/>
            </a:pPr>
            <a:r>
              <a:t>⚡ AWS Native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Use Cases: </a:t>
            </a:r>
          </a:p>
          <a:p>
            <a:pPr>
              <a:defRPr sz="1200"/>
            </a:pPr>
            <a:r>
              <a:t>• Autonomous incident resolution (SRE)  • Multi-step workflow automation  • Research and analysis 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AWS Bedrock AgentCore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5486400" cy="2743200"/>
          </a:xfrm>
          <a:prstGeom prst="roundRect">
            <a:avLst/>
          </a:prstGeom>
          <a:solidFill>
            <a:srgbClr val="FF9900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9900"/>
                </a:solidFill>
              </a:defRPr>
            </a:pPr>
            <a:r>
              <a:t>AWS Bedrock AgentCore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03120"/>
            <a:ext cx="1371600" cy="457200"/>
          </a:xfrm>
          <a:prstGeom prst="roundRect">
            <a:avLst/>
          </a:prstGeom>
          <a:solidFill>
            <a:srgbClr val="146EB4"/>
          </a:solidFill>
          <a:ln>
            <a:solidFill>
              <a:srgbClr val="14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Runtime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103120"/>
            <a:ext cx="1371600" cy="457200"/>
          </a:xfrm>
          <a:prstGeom prst="roundRect">
            <a:avLst/>
          </a:prstGeom>
          <a:solidFill>
            <a:srgbClr val="EC7211"/>
          </a:solidFill>
          <a:ln>
            <a:solidFill>
              <a:srgbClr val="EC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103120"/>
            <a:ext cx="1371600" cy="457200"/>
          </a:xfrm>
          <a:prstGeom prst="roundRect">
            <a:avLst/>
          </a:prstGeom>
          <a:solidFill>
            <a:srgbClr val="527FFF"/>
          </a:solidFill>
          <a:ln>
            <a:solidFill>
              <a:srgbClr val="5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926080"/>
            <a:ext cx="1371600" cy="45720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926080"/>
            <a:ext cx="1371600" cy="457200"/>
          </a:xfrm>
          <a:prstGeom prst="round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Observability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926080"/>
            <a:ext cx="1371600" cy="457200"/>
          </a:xfrm>
          <a:prstGeom prst="round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22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t>Frameworks: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143000"/>
            <a:ext cx="1005840" cy="365760"/>
          </a:xfrm>
          <a:prstGeom prst="roundRect">
            <a:avLst/>
          </a:prstGeom>
          <a:solidFill>
            <a:srgbClr val="232F3E"/>
          </a:solidFill>
          <a:ln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Strands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1143000"/>
            <a:ext cx="1005840" cy="365760"/>
          </a:xfrm>
          <a:prstGeom prst="roundRect">
            <a:avLst/>
          </a:prstGeom>
          <a:solidFill>
            <a:srgbClr val="232F3E"/>
          </a:solidFill>
          <a:ln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143000"/>
            <a:ext cx="1005840" cy="365760"/>
          </a:xfrm>
          <a:prstGeom prst="roundRect">
            <a:avLst/>
          </a:prstGeom>
          <a:solidFill>
            <a:srgbClr val="232F3E"/>
          </a:solidFill>
          <a:ln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CrewAI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1143000"/>
            <a:ext cx="1005840" cy="365760"/>
          </a:xfrm>
          <a:prstGeom prst="roundRect">
            <a:avLst/>
          </a:prstGeom>
          <a:solidFill>
            <a:srgbClr val="232F3E"/>
          </a:solidFill>
          <a:ln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LlamaIndex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t>Models: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148840"/>
            <a:ext cx="914400" cy="320040"/>
          </a:xfrm>
          <a:prstGeom prst="roundRect">
            <a:avLst/>
          </a:prstGeom>
          <a:solidFill>
            <a:srgbClr val="527FFF"/>
          </a:solidFill>
          <a:ln>
            <a:solidFill>
              <a:srgbClr val="5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Claude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606040"/>
            <a:ext cx="914400" cy="320040"/>
          </a:xfrm>
          <a:prstGeom prst="roundRect">
            <a:avLst/>
          </a:prstGeom>
          <a:solidFill>
            <a:srgbClr val="527FFF"/>
          </a:solidFill>
          <a:ln>
            <a:solidFill>
              <a:srgbClr val="5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Nova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063240"/>
            <a:ext cx="914400" cy="320040"/>
          </a:xfrm>
          <a:prstGeom prst="roundRect">
            <a:avLst/>
          </a:prstGeom>
          <a:solidFill>
            <a:srgbClr val="527FFF"/>
          </a:solidFill>
          <a:ln>
            <a:solidFill>
              <a:srgbClr val="5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Llama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520440"/>
            <a:ext cx="914400" cy="320040"/>
          </a:xfrm>
          <a:prstGeom prst="roundRect">
            <a:avLst/>
          </a:prstGeom>
          <a:solidFill>
            <a:srgbClr val="527FFF"/>
          </a:solidFill>
          <a:ln>
            <a:solidFill>
              <a:srgbClr val="5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Mistral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5722"/>
                </a:solidFill>
              </a:defRPr>
            </a:pPr>
            <a:r>
              <a:t>Key Capabilities</a:t>
            </a:r>
          </a:p>
          <a:p>
            <a:pPr>
              <a:spcAft>
                <a:spcPts val="600"/>
              </a:spcAft>
              <a:defRPr sz="1200"/>
            </a:pPr>
            <a:r>
              <a:t>• Runtime: Serverless, scalable execution with session isolation</a:t>
            </a:r>
          </a:p>
          <a:p>
            <a:pPr>
              <a:spcAft>
                <a:spcPts val="600"/>
              </a:spcAft>
              <a:defRPr sz="1200"/>
            </a:pPr>
            <a:r>
              <a:t>• Memory: Short-term and long-term context management</a:t>
            </a:r>
          </a:p>
          <a:p>
            <a:pPr>
              <a:spcAft>
                <a:spcPts val="600"/>
              </a:spcAft>
              <a:defRPr sz="1200"/>
            </a:pPr>
            <a:r>
              <a:t>• Observability: Production monitoring and quality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Agent Framework Comparison (2026)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280160"/>
              </a:tblGrid>
              <a:tr h="10058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Philosophy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Learning Curve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LangChain/</a:t>
                      </a:r>
                    </a:p>
                    <a:p>
                      <a:r>
                        <a:t>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Modular, flexible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Graph-based state machines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Complex enterprise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Moderate-High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CrewAI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Role-based 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Hierarchical/sequential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Content creation, SOPs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Easy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Multi-agent conversation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Dialogue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Code gen,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Moderate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Strands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Code-first simplicity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Lightweight agent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AWS-native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Easy-Moderate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Latest LLM Models Comparison (2026)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097280"/>
          <a:ext cx="8778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Vendor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Context Window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Key Features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GPT-5.2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Reasoning, 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Extended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Super-assistant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Anthropic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Claude Opus 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Agentic coding,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1M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Computer use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Gemini 3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Multimodal,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2M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Deep Research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Amazon Nova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Enterprise, cost-effective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Bedrock-native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Llama 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Open-source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On-prem deployment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Copilot (GPT-4)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Extended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M365 integration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Cloud AI Services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560320" cy="475488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Amazon Web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/>
            </a:pPr>
            <a:r>
              <a:t>• Bedrock - Multi-model platform</a:t>
            </a:r>
          </a:p>
          <a:p>
            <a:pPr>
              <a:spcAft>
                <a:spcPts val="800"/>
              </a:spcAft>
              <a:defRPr sz="1100"/>
            </a:pPr>
            <a:r>
              <a:t>• SageMaker - Custom ML</a:t>
            </a:r>
          </a:p>
          <a:p>
            <a:pPr>
              <a:spcAft>
                <a:spcPts val="800"/>
              </a:spcAft>
              <a:defRPr sz="1100"/>
            </a:pPr>
            <a:r>
              <a:t>• Amazon Q - AI assistant</a:t>
            </a:r>
          </a:p>
          <a:p>
            <a:pPr>
              <a:spcAft>
                <a:spcPts val="800"/>
              </a:spcAft>
              <a:defRPr sz="1100"/>
            </a:pPr>
            <a:r>
              <a:t>• AgentCore - Agentic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560320" cy="4754880"/>
          </a:xfrm>
          <a:prstGeom prst="roundRect">
            <a:avLst/>
          </a:prstGeom>
          <a:solidFill>
            <a:srgbClr val="0078D4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Microsoft Azure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031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/>
            </a:pPr>
            <a:r>
              <a:t>• Azure OpenAI - Enterprise GPT-4</a:t>
            </a:r>
          </a:p>
          <a:p>
            <a:pPr>
              <a:spcAft>
                <a:spcPts val="800"/>
              </a:spcAft>
              <a:defRPr sz="1100"/>
            </a:pPr>
            <a:r>
              <a:t>• Azure ML - Custom models</a:t>
            </a:r>
          </a:p>
          <a:p>
            <a:pPr>
              <a:spcAft>
                <a:spcPts val="800"/>
              </a:spcAft>
              <a:defRPr sz="1100"/>
            </a:pPr>
            <a:r>
              <a:t>• Copilot - M365 integration</a:t>
            </a:r>
          </a:p>
          <a:p>
            <a:pPr>
              <a:spcAft>
                <a:spcPts val="800"/>
              </a:spcAft>
              <a:defRPr sz="1100"/>
            </a:pPr>
            <a:r>
              <a:t>• Semantic Kernel -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188720"/>
            <a:ext cx="2560320" cy="4754880"/>
          </a:xfrm>
          <a:prstGeom prst="roundRect">
            <a:avLst/>
          </a:prstGeom>
          <a:solidFill>
            <a:srgbClr val="4285F4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285F4"/>
                </a:solidFill>
              </a:defRPr>
            </a:pPr>
            <a:r>
              <a:t>Google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/>
            </a:pPr>
            <a:r>
              <a:t>• Vertex AI - ML platform</a:t>
            </a:r>
          </a:p>
          <a:p>
            <a:pPr>
              <a:spcAft>
                <a:spcPts val="800"/>
              </a:spcAft>
              <a:defRPr sz="1100"/>
            </a:pPr>
            <a:r>
              <a:t>• Gemini API - Multimodal</a:t>
            </a:r>
          </a:p>
          <a:p>
            <a:pPr>
              <a:spcAft>
                <a:spcPts val="800"/>
              </a:spcAft>
              <a:defRPr sz="1100"/>
            </a:pPr>
            <a:r>
              <a:t>• Duet AI - Workspace</a:t>
            </a:r>
          </a:p>
          <a:p>
            <a:pPr>
              <a:spcAft>
                <a:spcPts val="800"/>
              </a:spcAft>
              <a:defRPr sz="1100"/>
            </a:pPr>
            <a:r>
              <a:t>• Agent Builder - Workflows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Real-World Enterprise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560320" cy="14630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💬 Customer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t>• Intelligent ticket routing</a:t>
            </a:r>
          </a:p>
          <a:p>
            <a:pPr>
              <a:spcAft>
                <a:spcPts val="400"/>
              </a:spcAft>
              <a:defRPr sz="1100"/>
            </a:pPr>
            <a:r>
              <a:t>• 24/7 automated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79" y="1188720"/>
            <a:ext cx="2560320" cy="146304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🔧 DevOps &amp; SRE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t>• Incident auto-remediation</a:t>
            </a:r>
          </a:p>
          <a:p>
            <a:pPr>
              <a:spcAft>
                <a:spcPts val="400"/>
              </a:spcAft>
              <a:defRPr sz="1100"/>
            </a:pPr>
            <a:r>
              <a:t>• Log analysis &amp; RCA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188720"/>
            <a:ext cx="2560320" cy="1463040"/>
          </a:xfrm>
          <a:prstGeom prst="roundRect">
            <a:avLst/>
          </a:prstGeom>
          <a:solidFill>
            <a:srgbClr val="9C27B0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C27B0"/>
                </a:solidFill>
              </a:defRPr>
            </a:pPr>
            <a:r>
              <a:t>📊 Data &amp;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t>• Pipeline monitoring</a:t>
            </a:r>
          </a:p>
          <a:p>
            <a:pPr>
              <a:spcAft>
                <a:spcPts val="400"/>
              </a:spcAft>
              <a:defRPr sz="1100"/>
            </a:pPr>
            <a:r>
              <a:t>• NL-to-SQL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2560320" cy="146304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800"/>
                </a:solidFill>
              </a:defRPr>
            </a:pPr>
            <a:r>
              <a:t>💻 Software 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t>• Code generation &amp; review</a:t>
            </a:r>
          </a:p>
          <a:p>
            <a:pPr>
              <a:spcAft>
                <a:spcPts val="400"/>
              </a:spcAft>
              <a:defRPr sz="1100"/>
            </a:pPr>
            <a:r>
              <a:t>• Bug detection &amp; fixing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79" y="2926080"/>
            <a:ext cx="2560320" cy="1463040"/>
          </a:xfrm>
          <a:prstGeom prst="roundRect">
            <a:avLst/>
          </a:prstGeom>
          <a:solidFill>
            <a:srgbClr val="F44336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1089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44336"/>
                </a:solidFill>
              </a:defRPr>
            </a:pPr>
            <a:r>
              <a:t>💰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566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t>• Compliance checking</a:t>
            </a:r>
          </a:p>
          <a:p>
            <a:pPr>
              <a:spcAft>
                <a:spcPts val="400"/>
              </a:spcAft>
              <a:defRPr sz="1100"/>
            </a:pPr>
            <a:r>
              <a:t>• Fraud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29200"/>
            <a:ext cx="8229600" cy="1188720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37E"/>
                </a:solidFill>
              </a:defRPr>
            </a:pPr>
            <a:r>
              <a:t>Success Metrics: 📊 70% ↓ resolution time  💰 40% cost savings  ⚡ 90% automation rate  😊 35% ↑ satisfaction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Best Practices &amp; Recommendations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Start with Clear Scope</a:t>
            </a:r>
          </a:p>
          <a:p>
            <a:pPr>
              <a:defRPr sz="1200"/>
            </a:pPr>
            <a:r>
              <a:t>Define tasks, success criteria, oversight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Choose Right Framework</a:t>
            </a:r>
          </a:p>
          <a:p>
            <a:pPr>
              <a:defRPr sz="1200"/>
            </a:pPr>
            <a:r>
              <a:t>Match framework to use case requirements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C27B0"/>
                </a:solidFill>
              </a:defRPr>
            </a:pPr>
            <a:r>
              <a:t>Robust Evaluation</a:t>
            </a:r>
          </a:p>
          <a:p>
            <a:pPr>
              <a:defRPr sz="1200"/>
            </a:pPr>
            <a:r>
              <a:t>Testing, monitoring, safety checks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9800"/>
                </a:solidFill>
              </a:defRPr>
            </a:pPr>
            <a:r>
              <a:t>Governance &amp; Security</a:t>
            </a:r>
          </a:p>
          <a:p>
            <a:pPr>
              <a:defRPr sz="1200"/>
            </a:pPr>
            <a:r>
              <a:t>Permissions, audit logs, approvals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120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4336"/>
                </a:solidFill>
              </a:defRPr>
            </a:pPr>
            <a:r>
              <a:t>Iterate on Metrics</a:t>
            </a:r>
          </a:p>
          <a:p>
            <a:pPr>
              <a:defRPr sz="1200"/>
            </a:pPr>
            <a:r>
              <a:t>Track success, analyze failures, optimize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37E"/>
                </a:solidFill>
              </a:defRPr>
            </a:pPr>
            <a:r>
              <a:t>Key Takeaways</a:t>
            </a:r>
          </a:p>
          <a:p>
            <a:pPr>
              <a:spcAft>
                <a:spcPts val="800"/>
              </a:spcAft>
              <a:defRPr sz="1300"/>
            </a:pPr>
            <a:r>
              <a:t>✅ Agents: experimental → enterprise-critical</a:t>
            </a:r>
          </a:p>
          <a:p>
            <a:pPr>
              <a:spcAft>
                <a:spcPts val="800"/>
              </a:spcAft>
              <a:defRPr sz="1300"/>
            </a:pPr>
            <a:r>
              <a:t>✅ Multi-agent orchestration is the future</a:t>
            </a:r>
          </a:p>
          <a:p>
            <a:pPr>
              <a:spcAft>
                <a:spcPts val="800"/>
              </a:spcAft>
              <a:defRPr sz="1300"/>
            </a:pPr>
            <a:r>
              <a:t>✅ Evaluation &amp; observability essential</a:t>
            </a:r>
          </a:p>
          <a:p>
            <a:pPr>
              <a:spcAft>
                <a:spcPts val="800"/>
              </a:spcAft>
              <a:defRPr sz="1300"/>
            </a:pPr>
            <a:r>
              <a:t>✅ Choose frameworks by use case</a:t>
            </a:r>
          </a:p>
          <a:p>
            <a:pPr>
              <a:spcAft>
                <a:spcPts val="800"/>
              </a:spcAft>
              <a:defRPr sz="1300"/>
            </a:pPr>
            <a:r>
              <a:t>✅ Security &amp; governance from day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0584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5722"/>
                </a:solidFill>
              </a:defRPr>
            </a:pPr>
            <a:r>
              <a:t>Recommended Next Steps</a:t>
            </a:r>
          </a:p>
          <a:p>
            <a:pPr>
              <a:spcAft>
                <a:spcPts val="800"/>
              </a:spcAft>
              <a:defRPr sz="1300"/>
            </a:pPr>
            <a:r>
              <a:t>1. Pilot Project - Well-defined use case</a:t>
            </a:r>
          </a:p>
          <a:p>
            <a:pPr>
              <a:spcAft>
                <a:spcPts val="800"/>
              </a:spcAft>
              <a:defRPr sz="1300"/>
            </a:pPr>
            <a:r>
              <a:t>2. Framework Selection - Match to needs</a:t>
            </a:r>
          </a:p>
          <a:p>
            <a:pPr>
              <a:spcAft>
                <a:spcPts val="800"/>
              </a:spcAft>
              <a:defRPr sz="1300"/>
            </a:pPr>
            <a:r>
              <a:t>3. Evaluation Setup - Monitor day one</a:t>
            </a:r>
          </a:p>
          <a:p>
            <a:pPr>
              <a:spcAft>
                <a:spcPts val="800"/>
              </a:spcAft>
              <a:defRPr sz="1300"/>
            </a:pPr>
            <a:r>
              <a:t>4. Team Training - Upskill team</a:t>
            </a:r>
          </a:p>
          <a:p>
            <a:pPr>
              <a:spcAft>
                <a:spcPts val="800"/>
              </a:spcAft>
              <a:defRPr sz="1300"/>
            </a:pPr>
            <a:r>
              <a:t>5. Production Deployment - Iterate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237E"/>
                </a:solidFill>
              </a:defRPr>
            </a:pPr>
            <a:r>
              <a:t>Resources &amp; Documentation</a:t>
            </a:r>
          </a:p>
          <a:p>
            <a:pPr algn="ctr">
              <a:spcAft>
                <a:spcPts val="600"/>
              </a:spcAft>
              <a:defRPr sz="1200"/>
            </a:pPr>
            <a:r>
              <a:t>Strands SDK: strandsagents.com</a:t>
            </a:r>
          </a:p>
          <a:p>
            <a:pPr algn="ctr">
              <a:spcAft>
                <a:spcPts val="600"/>
              </a:spcAft>
              <a:defRPr sz="1200"/>
            </a:pPr>
            <a:r>
              <a:t>AWS AgentCore: docs.aws.amazon.com/bedrock</a:t>
            </a:r>
          </a:p>
          <a:p>
            <a:pPr algn="ctr">
              <a:spcAft>
                <a:spcPts val="600"/>
              </a:spcAft>
              <a:defRPr sz="1200"/>
            </a:pPr>
            <a:r>
              <a:t>LangChain: langchain.com  •  CrewAI: crewai.com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5722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